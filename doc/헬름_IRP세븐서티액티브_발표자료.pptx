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AI퀀트 2기 2조 · 팀프로젝트 — 액티브 ETF 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106372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헬름 IRP세븐서티액티브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D3DCE8"/>
                </a:solidFill>
                <a:latin typeface="Malgun Gothic"/>
                <a:ea typeface="Malgun Gothic"/>
                <a:cs typeface="Malgun Gothic"/>
              </a:rPr>
              <a:t>확신의 크기만큼만 싣는다 —
채권 30%로 지키고, 70%를 추세 점수에 비례해 싣는 하락 방어형 글로벌 액티브 ETF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34840"/>
            <a:ext cx="2377440" cy="9525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470916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9B8CC"/>
                </a:solidFill>
                <a:latin typeface="Malgun Gothic"/>
                <a:ea typeface="Malgun Gothic"/>
                <a:cs typeface="Malgun Gothic"/>
              </a:rPr>
              <a:t>백테스트 2020.01 ~ 2026.06  ·  벤치마크 KODEX TRF7030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CAGR 13.6%   ·   MDD −12.7%   ·   Calmar 1.07 (벤치 0.60)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9436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C9DB5"/>
                </a:solidFill>
                <a:latin typeface="Malgun Gothic"/>
                <a:ea typeface="Malgun Gothic"/>
                <a:cs typeface="Malgun Gothic"/>
              </a:rPr>
              <a:t>2026.07  ·  전략·검증 / 엔진·데이터 / 상품·발표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한 장 요약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77240" y="1682496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77240" y="1682496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96696" y="181965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13.6%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2304288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CAGR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523743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벤치마크 13.2%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6835" y="1682496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486835" y="1682496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706291" y="181965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−12.7%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6291" y="2304288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최대낙폭 (MDD)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6291" y="2523743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벤치마크 −22.1%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0" y="1682496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96430" y="1682496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15886" y="181965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6" y="2304288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Calmar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6" y="2523743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벤치마크 0.60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06025" y="1682496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906025" y="1682496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25481" y="181965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+2.2%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5481" y="2304288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최악의 해 (2022)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5481" y="2523743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벤치마크 −11.3%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2871216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※ 벤치마크 = KODEX TRF7030 — 선진국주식 70 / 국내채권 30 의 동일 체급 실존 IRP 상품 (선정 근거: Phase 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21868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수익은 벤치마크와 비슷하다. 다른 것은 그 수익을 얻기까지 감수한 낙폭이다.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867912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78408" y="3785616"/>
            <a:ext cx="104360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같은 목적지에 절반의 멀미로 — CAGR 13.6% vs 13.2%, MDD −12.7% vs −22.1%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270248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78408" y="4187952"/>
            <a:ext cx="104360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위험조정 성과는 1.8배 — Calmar 1.07 vs 0.60. 2026년을 빼도 1.09로 유지된다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672584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78408" y="4590288"/>
            <a:ext cx="104360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7년 중 최악의 해가 +2.2% — 손실 난 해가 한 번도 없다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07492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8408" y="4992624"/>
            <a:ext cx="104360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24개월 이상 보유 시 손실 확률 0% (어느 달에 시작했든, 적립·거치 모두)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477256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78408" y="5394960"/>
            <a:ext cx="104360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방어는 재량이 아니라 규칙이다 — TrendScore 45 하향 시 전량 청산, 전 기간 자동 집행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38251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거래비용 왕복 0.10% 반영 · 세전 · 룩어헤드 방지 검증 완료 · 재현 브랜치 v2-tier2a-freeze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1 · 상품기획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왜 이 상품인가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82496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퇴직연금 적립금은 커지는데, 가입자 수익률은 정체돼 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5181447" cy="2286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33272" y="2505456"/>
            <a:ext cx="46693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시장 배경</a:t>
            </a:r>
          </a:p>
        </p:txBody>
      </p:sp>
      <p:sp>
        <p:nvSpPr>
          <p:cNvPr id="9" name="Rectangle 8"/>
          <p:cNvSpPr/>
          <p:nvPr/>
        </p:nvSpPr>
        <p:spPr>
          <a:xfrm>
            <a:off x="1033272" y="297180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34440" y="2889504"/>
            <a:ext cx="4468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액티브 ETF 급성장 — 비교지수 상관계수 요건 폐지 추진으로 운용 자유도 확대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72" y="347472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34440" y="3392424"/>
            <a:ext cx="4468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IRP 가입자는 원리금보장·지수추종에 편중 — 방어 설계된 대안이 드물다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3272" y="397764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34440" y="3895344"/>
            <a:ext cx="4468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연 900만 세액공제 한도, 55세까지 인출 제한 = 구조적 장기 계좌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2286000"/>
            <a:ext cx="5181447" cy="228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89039" y="2505456"/>
            <a:ext cx="46693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우리의 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89039" y="297180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90207" y="2889504"/>
            <a:ext cx="4468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E8F0"/>
                </a:solidFill>
                <a:latin typeface="Malgun Gothic"/>
                <a:ea typeface="Malgun Gothic"/>
                <a:cs typeface="Malgun Gothic"/>
              </a:rPr>
              <a:t>IRP 계좌를 정면 타깃으로 삼은 70:30 액티브 ETF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9039" y="347472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690207" y="3392424"/>
            <a:ext cx="4468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E8F0"/>
                </a:solidFill>
                <a:latin typeface="Malgun Gothic"/>
                <a:ea typeface="Malgun Gothic"/>
                <a:cs typeface="Malgun Gothic"/>
              </a:rPr>
              <a:t>상승장 참여 + 하락장 방어를 '재량'이 아니라 '규칙'으로 구현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89039" y="397764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690207" y="3895344"/>
            <a:ext cx="4468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E8F0"/>
                </a:solidFill>
                <a:latin typeface="Malgun Gothic"/>
                <a:ea typeface="Malgun Gothic"/>
                <a:cs typeface="Malgun Gothic"/>
              </a:rPr>
              <a:t>장기 계좌에는 높은 수익률보다 견딜 수 있는 낙폭이 중요하다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828032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타깃 고객 — 30~40대 IRP 가입자. 세액공제를 챙기되, 2022년 같은 해에 계좌를 열어보기 두렵지 않기를 바라는 사람.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1 · ① 비교지수 선정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비교지수 — 왜 KODEX TRF7030 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77240" y="1682496"/>
            <a:ext cx="10637215" cy="859536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1837944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KODEX TRF7030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67128"/>
            <a:ext cx="100885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3CFDF"/>
                </a:solidFill>
                <a:latin typeface="Malgun Gothic"/>
                <a:ea typeface="Malgun Gothic"/>
                <a:cs typeface="Malgun Gothic"/>
              </a:rPr>
              <a:t>TRF = Target Risk Fund · 선진국주식 70% / 국내채권 30% 고정 배분 · IRP 계좌에서 실제 판매 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163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798064"/>
            <a:ext cx="101800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체급이 같다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우리도 위험자산 70 / 채권 30 이다. 배분 비율이 같아야 '자산배분의 차이'가 아니라 '운용의 차이'만 비교된다 — 주식 100% 지수와 비교하면 방어력은 배분 덕인지 운용 덕인지 알 수 없다.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576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639312"/>
            <a:ext cx="101800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가상 지수가 아니다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941064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가입자가 지금 IRP 계좌에서 실제로 살 수 있는 대안이다. "이 상품 대신 무엇을 사겠는가"에 대한 정직한 답을 비교 대상으로 삼았다.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988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480560"/>
            <a:ext cx="101800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규제상 자유 비교가 가능하다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782312"/>
            <a:ext cx="10180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완전 자율 액티브로 설계해 비교지수 상관계수 요건을 적용받지 않는다. 따라서 지수를 따라갈 의무 없이, 이길 대상으로만 삼는다.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431536"/>
            <a:ext cx="10637215" cy="914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77240" y="5431536"/>
            <a:ext cx="45720" cy="91440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14984" y="5568696"/>
            <a:ext cx="101342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그래서 무엇이 달라지나 — 같은 70:30, 다른 운용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5870448"/>
            <a:ext cx="1013429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벤치마크는 70%를 언제나 만충으로 들고 간다. 본 상품은 같은 70%를 추세 점수에 비례해 채운다(평균 49.6%).
수익률이 비슷하게 나오는 것은 당연하고, 차이는 낙폭에서 벌어진다 — 이 비교의 핵심은 그 지점이다.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1 · 상품컨셉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투자 철학 — 네 문장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4168" y="1682496"/>
            <a:ext cx="100702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규율이 곧 방어다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066544"/>
            <a:ext cx="100702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채권 30% 상시 고정. 어떤 국면에도 하방 한계를 구조화한다.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71216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2852928"/>
            <a:ext cx="100702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확신의 크기만큼만 싣는다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3236976"/>
            <a:ext cx="100702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자격선(52점)을 넘은 종목만, 점수에 비례해 슬롯의 30~100%를 충전한다.
살지 말지(스위치)가 아니라 얼마나 살지(조광기)를 정한다.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41648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4168" y="4023360"/>
            <a:ext cx="100702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살 만한 것이 없으면 사지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4168" y="4407408"/>
            <a:ext cx="100702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기준 미달이면 그 자리는 채권으로. 77회 체크 중 만충은 18회뿐, 평균 노출은 만충의 71%.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5193792"/>
            <a:ext cx="100702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무리하지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4168" y="5577840"/>
            <a:ext cx="100702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무레버리지·무파생. 연금계좌 매수 가능 요건을 스스로 충족한다.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2-A · 시장 국면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TrendScore — 국면을 읽는 커스텀 지표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82496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"이 종목이 지금 믿을 만한 추세 위에 있는가"를 0~100의 한 숫자로 답한다.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063721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지표 하나에는 실패 국면이 하나씩 따라붙는다 — 이동평균은 횡보장에서 속임수 신호를 내고, 모멘텀은 고점에서 가장 강하게 사라고 한다.
TrendScore는 서로의 맹점을 가리는 네 팩터를 겹쳐, 한 지표가 틀리는 국면에서 나머지가 점수를 끌어내린다.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2944368"/>
          <a:ext cx="10637214" cy="19202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12438"/>
                <a:gridCol w="1040597"/>
                <a:gridCol w="4278010"/>
                <a:gridCol w="3006169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팩터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비중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무엇을 보는가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 팩터가 막는 실패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EWMAC 앙상블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추세의 방향과 지속성 (8/32·16/64·32/128일 3쌍)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특정 기간 설정 과최적화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TSMOM (12−1)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25%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12개월 수익률 − 직전 1개월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단기 급등 추격매수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RSI (14일)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최근 2~3주 매수·매도 압력 균형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중·장기 지표의 반응 지연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ADX 페널티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−15점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추세의 강도 (방향이 아님)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횡보장 오탐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065776"/>
            <a:ext cx="10637215" cy="10241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5065776"/>
            <a:ext cx="45720" cy="10241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14984" y="5212080"/>
            <a:ext cx="101342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변동성 정규화 — 이 지표의 핵심 장치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5522976"/>
            <a:ext cx="101342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모든 팩터를 연율 변동성으로 나눈다. 재는 것은 '추세의 크기'가 아니라 '추세의 명료성' —
그래서 반도체와 금현물처럼 성격이 다른 36종을 같은 자로 재서 한 줄로 세울 수 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2-B · 종목선별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투자 유니버스 — 36종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682496"/>
          <a:ext cx="10637213" cy="2103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4856119"/>
                <a:gridCol w="3121791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슬리브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역할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 섹터 ETF 15종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IT·반도체·증권·건설 등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국내 주도 테마 포착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해외지수·미국섹터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S&amp;P500·나스닥100·S&amp;P 섹터·일본·중국·인도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글로벌 성장 참여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원자재·리츠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금현물(411060)·구리실물·리츠인프라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체제 보험·분산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채권 3종 (고정 30%)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단기채·국고채3년·종합채권액티브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구조적 방어벽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14216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유니버스는 종목 명단이 아니라 자격 규정이다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53712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78408" y="4471416"/>
            <a:ext cx="1043604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국내 상장 · 무레버리지 · 연금계좌 편입 가능 · 상장 후 252거래일 경과(지표 워밍업) · 자산군 대표성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937760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78408" y="4855464"/>
            <a:ext cx="1043604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신규 상장 ETF는 252거래일 축적 후 재심사 편입 — 백테스트와 실전은 같은 규정의 다른 시점 단면이다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321808"/>
            <a:ext cx="68580" cy="6858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78408" y="5239512"/>
            <a:ext cx="1043604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원자재는 백테스트 6.5년에 없던 국면(인플레 재점화 등)에 대한 체제 보험 — 그 비용을 측정·공시한다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2-B · 비중 결정 · 리밸런싱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운용 프로세스 — 3단계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77240" y="1682496"/>
            <a:ext cx="3411626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77240" y="1682496"/>
            <a:ext cx="3411626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4984" y="1938528"/>
            <a:ext cx="29361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" y="2231136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종목별 추세 점수화 (월간)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2798064"/>
            <a:ext cx="293613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36종 각각에 TrendScore(0~100) 산출.
변동성 정규화로 자산군이 달라도 한 줄로 비교한다.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0034" y="1682496"/>
            <a:ext cx="3411626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90034" y="1682496"/>
            <a:ext cx="3411626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27778" y="1938528"/>
            <a:ext cx="29361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2231136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선별과 충전 (핵심 규칙)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2798064"/>
            <a:ext cx="293613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점수 상위 최대 7종목. 52점 이상만 자격,
점수에 비례해 충전 — 52점=슬롯 30% → 60점 이상=만충.
45점 미만 시 전량 매도. 빈 슬롯은 단기채 대피.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2828" y="1682496"/>
            <a:ext cx="3411626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02828" y="1682496"/>
            <a:ext cx="3411626" cy="5486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40572" y="1938528"/>
            <a:ext cx="29361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0572" y="2231136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리밸런싱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0572" y="2798064"/>
            <a:ext cx="293613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분기 정기 + 목표 대비 ±7%p 이탈 시 수시.
월 적립 현금흐름이 자연 리밸런싱을 보조.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79976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진입 52 / 청산 45 — 두 문턱의 간격이 완충지대를 만든다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76402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52점 이상을 유지하는 보유는 웬만한 신규 후보에 흔들리지 않는다. 문턱을 하나만 두면 그 근처에서 사고팔기를 반복(휩쏘)하게 되므로, 들어오는 문과 나가는 문을 다르게 뒀다.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운용 결과 · 실효 노출률 실측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노출은 스스로 내려간다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82496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하락장이 추세를 꺾으면 점수가 내려가고, 점수가 내려가면 노출이 줄어든다.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판단이 아니라 인과다 — 그래서 다음 위기에도 같은 방식으로 작동한다.</a:t>
            </a:r>
          </a:p>
        </p:txBody>
      </p:sp>
      <p:pic>
        <p:nvPicPr>
          <p:cNvPr id="8" name="Picture 7" descr="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0553" y="2377440"/>
            <a:ext cx="6990588" cy="25420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7240" y="5029200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7240" y="5029200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96696" y="5166360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49.6%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5650992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평균 실효 노출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" y="5870447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만충(70%)의 71%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6835" y="5029200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486835" y="5029200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06291" y="5166360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6291" y="5650992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최저 노출 (2020.05)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6291" y="5870447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코로나 국면 전량 대피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6430" y="5029200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196430" y="5029200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15886" y="5166360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18 / 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6" y="5650992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만충 개월 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5886" y="5870447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나머지는 부분 충전 또는 대피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06025" y="5029200"/>
            <a:ext cx="2508427" cy="107899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906025" y="5029200"/>
            <a:ext cx="45720" cy="107899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125481" y="5166360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6.1종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481" y="5650992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평균 보유 종목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481" y="5870447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종목당 평균 8.1%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RISK MANAGEMENT · 명시적 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리스크 관리 체계 — 룰과 실측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682496"/>
          <a:ext cx="10637213" cy="3200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3161"/>
                <a:gridCol w="5076852"/>
                <a:gridCol w="37472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요구 룰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본 상품의 구현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백테스트 실측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손절 기준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TrendScore 45 하향 시 전량 청산 — 가격이 아닌 추세 소멸 기준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2020.5·2023.5 전량 대피 포함 전 기간 자동 집행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비중 조절 룰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점수 비례 충전: 52점=30% → 60점=만충, 식으면 자동 감량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평균 노출 49.6%, 위기 시 한 자릿수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MDD 통제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−15% 서킷브레이커: 도달 시 위험자산 절반 축소 후 월간 재심사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기간(MDD −12.7%) 무발동 — 최후 방어선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개별 종목 한도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위험자산 종목당 최대 10%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동일가중 상한으로 강제, 위반 0회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현금성 상한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현금성(단기채 대피분)은 사테라이트 70% 이내로 구조적 제한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대피 최대치 = 슬롯 전체 공실 시 70%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집중 완화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자산군 분산 + Top-7 분산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평균 보유 6.1종목, 종목당 평균 8.1%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111496"/>
            <a:ext cx="10637215" cy="78638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77240" y="5111496"/>
            <a:ext cx="45720" cy="786384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14984" y="5230368"/>
            <a:ext cx="101800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서킷브레이커는 한 번도 발동하지 않았다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" y="5513832"/>
            <a:ext cx="10180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게이트와 경사가 그보다 앞서 노출을 줄이기 때문이다. 룰은 그 1차 방어가 실패할 때를 위한 최후 방어선으로 존재한다.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RISK MANAGEMENT · 방어력 실측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방어의 실증 — 같은 시장에서 얼마나 덜 잃었나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draw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757" y="1728216"/>
            <a:ext cx="8298180" cy="3017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" y="4928616"/>
            <a:ext cx="2508427" cy="10241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77240" y="4928616"/>
            <a:ext cx="45720" cy="10241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96696" y="506577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42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−12.7%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5495544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본 상품 MDD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5715000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벤치마크 −22.1%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86835" y="4928616"/>
            <a:ext cx="2508427" cy="10241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486835" y="4928616"/>
            <a:ext cx="45720" cy="10241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706291" y="506577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42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+2.2%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6291" y="5495544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2022년 수익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6291" y="5715000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벤치마크 −11.3%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6430" y="4928616"/>
            <a:ext cx="2508427" cy="10241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96430" y="4928616"/>
            <a:ext cx="45720" cy="10241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15886" y="506577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42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6" y="5495544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구간 승률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5886" y="5715000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손익비 1.82 · PF 3.23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5" y="4928616"/>
            <a:ext cx="2508427" cy="10241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906025" y="4928616"/>
            <a:ext cx="45720" cy="10241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25481" y="5065776"/>
            <a:ext cx="21792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42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5481" y="5495544"/>
            <a:ext cx="217924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서킷브레이커 발동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5481" y="5715000"/>
            <a:ext cx="21792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−15% 미도달 — 최후 방어선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낙폭(drawdown) = 직전 고점 대비 하락률. 값이 0에 가까울수록 방어적이다.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3 · 백테스트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성과 — 자산곡선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equ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4386" y="1682496"/>
            <a:ext cx="5802923" cy="27432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4608576"/>
          <a:ext cx="10637212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42813"/>
                <a:gridCol w="2417548"/>
                <a:gridCol w="2901058"/>
                <a:gridCol w="2175793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/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본 상품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KODEX TRF7030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차이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CAGR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13.6%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＋0.4%p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MDD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−12.7%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−22.1%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낙폭 절반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Sharpe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1.18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＋0.02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Calmar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1.07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0.60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1.8배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 제외 Calmar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1.9배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638251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거래비용 왕복 0.10% 반영 · 세전 · 비용을 3배(0.30%)로 올려도 MDD −12.7% 불변, Calmar 1.01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3 · 국면별 방어력 분해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연도별 성과 — 2022년이 이 상품의 정체성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year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1682496"/>
            <a:ext cx="6400800" cy="25603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4443984"/>
          <a:ext cx="10637209" cy="12435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5689"/>
                <a:gridCol w="1247360"/>
                <a:gridCol w="1247360"/>
                <a:gridCol w="1247360"/>
                <a:gridCol w="1247360"/>
                <a:gridCol w="1247360"/>
                <a:gridCol w="1247360"/>
                <a:gridCol w="1247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연도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2020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2021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2022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2023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2024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2025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2026상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본 상품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+3.5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+15.5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+2.2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+6.8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+19.7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+13.3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+29.3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벤치마크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+7.3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+22.1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−11.3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+20.9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+27.1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+12.5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+11.3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−3.8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−6.6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+13.5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−14.1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−7.5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+0.8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+18.1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833872"/>
            <a:ext cx="1063721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7년 중 4년은 벤치마크보다 덜 벌었다. 그러나 벤치마크가 −11.3%였던 2022년에 +2.2%를 냈다.
평시에 보험료(소폭 열위)를 내고 위기에 보험금을 받는 구조 — 이기는 해는 적지만, 잃는 해가 없다.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PHASE 3 · 검증과 재현성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왜 이 숫자를 믿을 수 있나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777240" y="1737360"/>
            <a:ext cx="45720" cy="5669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96696" y="1682496"/>
            <a:ext cx="1041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채점 기준 사전 고정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1984248"/>
            <a:ext cx="104177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두 구간 Calmar·최악 해·2022 방어를 결과 확인 전에 확정. 미달 실험(진입 경사 단독 MDD −17.6% 등)은 전부 기각·기록.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33472"/>
            <a:ext cx="45720" cy="5669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96696" y="2578608"/>
            <a:ext cx="1041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9/9 plateau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2880360"/>
            <a:ext cx="104177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채택값 주변 9개 설정을 전수 측정, 전부 기준선 초과 — 한 점의 운이 아니라 면 전체가 들렸다.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529584"/>
            <a:ext cx="45720" cy="5669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96696" y="3474720"/>
            <a:ext cx="1041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두 구간 교차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776472"/>
            <a:ext cx="104177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2026년이라는 한 해를 통째로 빼도 Calmar 1.09로 유지·상승한다(전 구간 1.07). 같은 구간 벤치마크는 0.56 — 특정 국면에 기댄 성과가 아니다.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425696"/>
            <a:ext cx="45720" cy="5669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96696" y="4370832"/>
            <a:ext cx="1041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개선 전수 탐색 후 확정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" y="4672584"/>
            <a:ext cx="104177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동결 이후 대안 8계열·11개 구성을 같은 기준으로 전수 측정 — 채택 0. "대안을 못 찾아서"가 아니라 "주변 전부를 재본 뒤" 확정된 구성이다.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321808"/>
            <a:ext cx="45720" cy="566928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96696" y="5266944"/>
            <a:ext cx="1041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재현성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" y="5568696"/>
            <a:ext cx="104177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동일 커밋·동일 데이터에서 자산곡선이 그대로 재현된다. 기능 플래그 대조 실험으로 각 규칙의 기여를 개별 검증했고, 검증 32항목과 자가 발견 결함 전수를 문서로 공개한다.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가입자 관점 · 적립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가입자 시나리오 — 연 900만 (세액공제 한도)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682496"/>
          <a:ext cx="10637214" cy="11521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4428"/>
                <a:gridCol w="1519602"/>
                <a:gridCol w="3324129"/>
                <a:gridCol w="1424627"/>
                <a:gridCol w="2184428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납입 방식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총 납입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최종 평가액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손익률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MWR 연율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월 75만 적립식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5,850만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1억 394만  (벤치 9,790만)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+77.7%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17.5%  (벤치 15.7%)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연초 900만 거치식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6,300만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1억 1,469만  (벤치 1억 725만)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+82.0%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17.1%  (벤치 15.2%)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3008376"/>
            <a:ext cx="3411626" cy="960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77240" y="3008376"/>
            <a:ext cx="45720" cy="96012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96696" y="3145536"/>
            <a:ext cx="308244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58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3511296"/>
            <a:ext cx="30824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24개월 보유 시 손실 확률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3730752"/>
            <a:ext cx="308244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적립·거치 모두 · 시작 월 무관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90034" y="3008376"/>
            <a:ext cx="3411626" cy="960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90034" y="3008376"/>
            <a:ext cx="45720" cy="96012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09490" y="3145536"/>
            <a:ext cx="308244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58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7.6%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9490" y="3511296"/>
            <a:ext cx="30824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12개월 적립 손실 확률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9490" y="3730752"/>
            <a:ext cx="308244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벤치마크 13.6%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2828" y="3008376"/>
            <a:ext cx="3411626" cy="9601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02828" y="3008376"/>
            <a:ext cx="45720" cy="960120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2284" y="3145536"/>
            <a:ext cx="308244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58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2284" y="3511296"/>
            <a:ext cx="30824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1F27"/>
                </a:solidFill>
                <a:latin typeface="Malgun Gothic"/>
                <a:ea typeface="Malgun Gothic"/>
                <a:cs typeface="Malgun Gothic"/>
              </a:rPr>
              <a:t>벤치마크 24개월 손실 확률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2284" y="3730752"/>
            <a:ext cx="308244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본 상품은 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17880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12개월 단기는 손실이 가능하다 — 단기 자금용이 아니며, 55세까지 묶이는 IRP의 성격과 정합한다.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58114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10년 예상 적립금 (가정 기반 산수 예시 — 백테스트 실적 아님)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777240" y="4919472"/>
          <a:ext cx="6766560" cy="1097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37460"/>
                <a:gridCol w="2114550"/>
                <a:gridCol w="211455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 수익률 가정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월 75만 적립 (120회)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연초 900만 거치 (10회)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6% (보수적)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1.22억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1.26억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10% (중립)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1.51억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1.58억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13.6% (백테스트 CAGR)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1.83억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1.94억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777240" y="638251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768290"/>
                </a:solidFill>
                <a:latin typeface="Malgun Gothic"/>
                <a:ea typeface="Malgun Gothic"/>
                <a:cs typeface="Malgun Gothic"/>
              </a:rPr>
              <a:t>납입원금 9,000만 기준 · 세전 · 보수·세금 미반영 · 수익률이 매년 일정하다는 단순 복리 가정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RISK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유의사항 — 정직한 고지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682496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 상품이 못하는 것을 먼저 말한다.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4942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2249424"/>
            <a:ext cx="1025316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원금 비보장 실적배당형이며, 백테스트는 미래 수익을 보장하지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0779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2907792"/>
            <a:ext cx="1025316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7년 중 4년은 벤치마크보다 덜 벌었다. 매년 이기는 상품이 아니라, 평시에 보험료를 내고 위기에 보험금을 받는 상품이다.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3566160"/>
            <a:ext cx="1025316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급반전(V자) 국면에 구조적으로 후행한다 — 추세 확인 후 진입하므로 반등 초입 일부를 포기한다. 2023년 벤치마크 대비 −14.1%p 가 이 약점의 최대 실측치다.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245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4224528"/>
            <a:ext cx="1025316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백테스트는 6.5년(해외 ETF 상장 시점 한계)이며, 유니버스는 현존 종목 기준이라 생존편향 가능성이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8289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4882896"/>
            <a:ext cx="1025316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세금·슬리피지 미반영(세전).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54126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5541263"/>
            <a:ext cx="1025316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규제 정합 설계 — 위험자산 비중을 상시 70% 이하로 스스로 제한한다. IRP 계좌의 위험자산 70% 한도와 같은 선을 상품 내부에 둬, 가입자가 계좌를 이 상품 하나로 채워도 한도를 넘지 않는다.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PRODUCT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86384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상품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444752"/>
            <a:ext cx="10637215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682496"/>
          <a:ext cx="10637214" cy="32186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26393"/>
                <a:gridCol w="8410821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내용</a:t>
                      </a:r>
                    </a:p>
                  </a:txBody>
                  <a:tcPr marL="82296" marR="82296" marT="27432" marB="27432" anchor="ctr">
                    <a:solidFill>
                      <a:srgbClr val="1F3A5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펀드명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헬름 IRP세븐서티액티브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비교지수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KODEX TRF7030 (선진국주식 70 / 국내채권 30 — 동일 체급 실존 상품)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투자 대상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국내 상장 ETF 36종 (한국 섹터·해외지수·원자재·채권)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운용 방식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추세 점수 비례 충전 + Top-7 선별 + 채권 30% 고정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리밸런싱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월간 점수 체크 · 분기 정기 + 목표 대비 ±7%p 이탈 시 수시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총보수 (가정)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 0.49% (국내 자산배분형 액티브 ETF 관행 수준)</a:t>
                      </a:r>
                    </a:p>
                  </a:txBody>
                  <a:tcPr marL="82296" marR="82296" marT="27432" marB="27432" anchor="ctr">
                    <a:solidFill>
                      <a:srgbClr val="F5F7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위험등급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44505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4등급(보통위험) 가정 — 비교지수(4등급)와 동일 체급·동일 법적 분류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5431535"/>
            <a:ext cx="10637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팀 역할 분담 (R&amp;R)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843015"/>
            <a:ext cx="341162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08191"/>
            <a:ext cx="341162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상품컨셉·비교지수 선정 · 국면지표·자산배분 설계 · 리스크 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0034" y="5843015"/>
            <a:ext cx="341162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CTO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0034" y="6108191"/>
            <a:ext cx="341162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데이터 수집·전처리 · 파이썬 백테스트 구현 · 지표 코드화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2828" y="5843015"/>
            <a:ext cx="341162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CMO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2828" y="6108191"/>
            <a:ext cx="341162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44505E"/>
                </a:solidFill>
                <a:latin typeface="Malgun Gothic"/>
                <a:ea typeface="Malgun Gothic"/>
                <a:cs typeface="Malgun Gothic"/>
              </a:rPr>
              <a:t>타겟 고객·네이밍 · 투자제안서 제작 · 성과 스토리텔링·발표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확신의 크기만큼만 싣는다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200400"/>
            <a:ext cx="2377440" cy="9525"/>
          </a:xfrm>
          <a:prstGeom prst="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92656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>
                <a:solidFill>
                  <a:srgbClr val="D3DCE8"/>
                </a:solidFill>
                <a:latin typeface="Malgun Gothic"/>
                <a:ea typeface="Malgun Gothic"/>
                <a:cs typeface="Malgun Gothic"/>
              </a:rPr>
              <a:t>시장을 이기는 상품이 아니라, 시장에 남아 있게 하는 상품입니다.
55세까지 묶이는 계좌에 필요한 것은 가장 높은 수익률이 아니라 견딜 수 있는 낙폭입니다.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C8A24B"/>
                </a:solidFill>
                <a:latin typeface="Malgun Gothic"/>
                <a:ea typeface="Malgun Gothic"/>
                <a:cs typeface="Malgun Gothic"/>
              </a:rPr>
              <a:t>CAGR 13.6%   ·   MDD −12.7%   ·   Calmar 1.07   ·   최악의 해 +2.2%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436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C9DB5"/>
                </a:solidFill>
                <a:latin typeface="Malgun Gothic"/>
                <a:ea typeface="Malgun Gothic"/>
                <a:cs typeface="Malgun Gothic"/>
              </a:rPr>
              <a:t>헬름 IRP세븐서티액티브  ·  AI퀀트 2기 2조  ·  재현 브랜치 v2-tier2a-freeze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