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8B8C8"/>
                </a:solidFill>
                <a:latin typeface="Malgun Gothic"/>
              </a:rPr>
              <a:t>KDT AI 퀀트 과정 · 나만의 인디케이터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Malgun Gothic"/>
              </a:rPr>
              <a:t>SMA 각도 국면 + ROC 가속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89A96"/>
                </a:solidFill>
                <a:latin typeface="Malgun Gothic"/>
              </a:rPr>
              <a:t>상승·횡보·하락 3국면 분할 × 모멘텀 가속 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8C8D5"/>
                </a:solidFill>
                <a:latin typeface="Malgun Gothic"/>
              </a:rPr>
              <a:t>표준지표 2개(이동평균·ROC) 조합  ·  비교군: SuperTrend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8C8D5"/>
                </a:solidFill>
                <a:latin typeface="Malgun Gothic"/>
              </a:rPr>
              <a:t>검증 유니버스: 미국 4 + 한국 6 = 10종목 (2018–2026)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01 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아이디어 — 무엇을, 왜 만들었나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A1A2E"/>
                </a:solidFill>
                <a:latin typeface="Malgun Gothic"/>
              </a:rPr>
              <a:t>"살 수 있는 국면인가"와 "지금 진입할 시점인가"는 다른 질문이다.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66666"/>
                </a:solidFill>
                <a:latin typeface="Malgun Gothic"/>
              </a:rPr>
              <a:t>이 둘을 한 조건에 섞으면 늦게 사거나(추격) 아무 때나 사게 된다(휩쏘). 그래서 분리했다.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5303520" cy="30175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530352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국면 (Regime) — 언제 사도 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추세의 방향 + 세기를 본다.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20SMA 각도로 상승·횡보·하락 3국면 분할. 상승국면에서만 매수 허용.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E8B57"/>
                </a:solidFill>
                <a:latin typeface="Malgun Gothic"/>
              </a:rPr>
              <a:t>→ 3색 배경(초록·회색·빨강)으로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063240"/>
            <a:ext cx="5303520" cy="30175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063240"/>
            <a:ext cx="5303520" cy="64008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시점 (Timing) — 지금 진입할까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모멘텀의 가속을 본다.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ROC(변화율)의 기울기가 0 이상이면 모멘텀이 살아나는 순간 = 진입.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534E"/>
                </a:solidFill>
                <a:latin typeface="Malgun Gothic"/>
              </a:rPr>
              <a:t>→ 차트에 진입▲ 마커로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02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지표 설계 — 계산식과 조합 (표준지표 2개)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66666"/>
                </a:solidFill>
                <a:latin typeface="Malgun Gothic"/>
              </a:rPr>
              <a:t>새 지표를 발명하지 않고, 검증된 표준지표 2개를 '방향'과 '가속'으로 역할 분담했다.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5303520" cy="3383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534E"/>
                </a:solidFill>
                <a:latin typeface="Malgun Gothic"/>
              </a:rPr>
              <a:t>① 20일 이동평균 (SMA20)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SMA₂₀(t) = 최근 20일 종가 평균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2E"/>
                </a:solidFill>
                <a:latin typeface="Malgun Gothic"/>
              </a:rPr>
              <a:t>각도 = (SMA(t)−SMA(t−1)) ÷ SMA × 100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Malgun Gothic"/>
              </a:rPr>
              <a:t>  (%/일 — 종목 스케일과 무관)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역할: 각도로 국면 3분할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66666"/>
                </a:solidFill>
                <a:latin typeface="Malgun Gothic"/>
              </a:rPr>
              <a:t>+0.03↑ 상승 · ±0.03 횡보 · −0.03↓ 하락. '방향'뿐 아니라 '세기'까지 봐 약한 추세를 거른다.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5303520" cy="3383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B61FF"/>
                </a:solidFill>
                <a:latin typeface="Malgun Gothic"/>
              </a:rPr>
              <a:t>② 변화율 ROC (10일, 3봉 평활)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ROC(t) = (종가(t) / 종가(t−10) − 1) × 100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3봉 평균으로 스무딩 후,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ROC 기울기 = ROC(t) − ROC(t−1)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역할: 모멘텀 가속(시점) 판별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Malgun Gothic"/>
              </a:rPr>
              <a:t>'속도'가 아니라 '가속도'를 봐서 추세가 살아나는 전환점을 잡는다.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8B57"/>
                </a:solidFill>
                <a:latin typeface="Malgun Gothic"/>
              </a:rPr>
              <a:t>지표 3개 이내 권장 → 2개로 단순하게. 각 지표에 명확히 하나의 역할.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03 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국면·시점 로직 — 3국면 분할 + 매매 조건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66160" cy="822960"/>
          </a:xfrm>
          <a:prstGeom prst="rect">
            <a:avLst/>
          </a:prstGeom>
          <a:solidFill>
            <a:srgbClr val="D6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691640"/>
            <a:ext cx="3200400" cy="82296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3886200" cy="822960"/>
          </a:xfrm>
          <a:prstGeom prst="rect">
            <a:avLst/>
          </a:prstGeom>
          <a:solidFill>
            <a:srgbClr val="FB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Malgun Gothic"/>
              </a:rPr>
              <a:t>상승국면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Malgun Gothic"/>
              </a:rPr>
              <a:t>각도 &gt; +0.03 %/일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77777"/>
                </a:solidFill>
                <a:latin typeface="Malgun Gothic"/>
              </a:rPr>
              <a:t>횡보국면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Malgun Gothic"/>
              </a:rPr>
              <a:t>−0.03 ~ +0.03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6479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534E"/>
                </a:solidFill>
                <a:latin typeface="Malgun Gothic"/>
              </a:rPr>
              <a:t>하락국면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Malgun Gothic"/>
              </a:rPr>
              <a:t>각도 &lt; −0.03 %/일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solidFill>
            <a:srgbClr val="E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8B57"/>
                </a:solidFill>
                <a:latin typeface="Malgun Gothic"/>
              </a:rPr>
              <a:t>매수 (진입)  =  상승국면 AND 시점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2E"/>
                </a:solidFill>
                <a:latin typeface="Malgun Gothic"/>
              </a:rPr>
              <a:t>① SMA 각도 &gt; +0.03 %/일   (세기 있는 상승국면 — 사도 되는 자리)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Malgun Gothic"/>
              </a:rPr>
              <a:t>② ROC 기울기 ≥ 0   (모멘텀 가속 — 지금 들어갈 시점)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10972800" cy="1051560"/>
          </a:xfrm>
          <a:prstGeom prst="rect">
            <a:avLst/>
          </a:prstGeom>
          <a:solidFill>
            <a:srgbClr val="F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8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534E"/>
                </a:solidFill>
                <a:latin typeface="Malgun Gothic"/>
              </a:rPr>
              <a:t>매도 (청산)  =  하락국면 진입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Malgun Gothic"/>
              </a:rPr>
              <a:t>SMA 각도 ≤ −0.03 %/일.  횡보국면(±0.03)은 보유 유지 → 눌림 휩쏘 방지.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2E"/>
                </a:solidFill>
                <a:latin typeface="Malgun Gothic"/>
              </a:rPr>
              <a:t>설계 포인트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Malgun Gothic"/>
              </a:rPr>
              <a:t>•  부호(&gt;0)가 아니라 '각도(세기)'로 국면을 나눠 0 근처 횡보의 저품질 진입 제거 → 거래 83→61회, Sharpe↑.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Malgun Gothic"/>
              </a:rPr>
              <a:t>•  횡보는 팔지 않고 홀드, 하락 전환에만 청산 → 눌림에서 튕겨 나가는 휩쏘를 막는다.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04 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차트 시연 — 신호가 그려진 화면 (KODEX200)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gnal_069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44" y="1691640"/>
            <a:ext cx="735647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Malgun Gothic"/>
              </a:rPr>
              <a:t>초록=상승·회색=횡보·빨강=하락 국면(SMA 각도 ±0.03%/일)  ·  ▲진입(상승국면+가속)  ·  ▼청산(하락 전환)  ·  하단=각도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2E"/>
                </a:solidFill>
                <a:latin typeface="Malgun Gothic"/>
              </a:rPr>
              <a:t>2020 폭락은 하락국면(빨강)으로 전환해 회피, 반등 초입 상승국면에서 재진입. 횡보(회색)에선 신규 진입을 자제한다.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05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백테스트 검증 — 비교군 SuperTrend 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verse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040880" cy="3291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783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유니버스 평균 (10종목)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2240280"/>
          <a:ext cx="4023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868680"/>
                <a:gridCol w="86868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CAGR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Sharpe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534E"/>
                          </a:solidFill>
                          <a:latin typeface="Malgun Gothic"/>
                        </a:rPr>
                        <a:t>내 지표</a:t>
                      </a:r>
                    </a:p>
                  </a:txBody>
                  <a:tcPr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34E"/>
                          </a:solidFill>
                          <a:latin typeface="Malgun Gothic"/>
                        </a:rPr>
                        <a:t>9.6%</a:t>
                      </a:r>
                    </a:p>
                  </a:txBody>
                  <a:tcPr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34E"/>
                          </a:solidFill>
                          <a:latin typeface="Malgun Gothic"/>
                        </a:rPr>
                        <a:t>0.59</a:t>
                      </a:r>
                    </a:p>
                  </a:txBody>
                  <a:tcPr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34E"/>
                          </a:solidFill>
                          <a:latin typeface="Malgun Gothic"/>
                        </a:rPr>
                        <a:t>-33.7%</a:t>
                      </a:r>
                    </a:p>
                  </a:txBody>
                  <a:tcPr>
                    <a:solidFill>
                      <a:srgbClr val="FCEFE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SuperTrend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-39.9%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Buy&amp;Hold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algun Gothic"/>
                        </a:rPr>
                        <a:t>-48.4%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20624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결과 요약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66666"/>
                </a:solidFill>
                <a:latin typeface="Malgun Gothic"/>
              </a:rPr>
              <a:t>•  10종목 중 9종목에서 SuperTrend보다 높은 Sharpe(위험조정 수익).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66666"/>
                </a:solidFill>
                <a:latin typeface="Malgun Gothic"/>
              </a:rPr>
              <a:t>•  B&amp;H보다 CAGR은 낮아도(상승장 베타) 낙폭(MDD)이 -48→-34로 크게 얕다.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A1A2E"/>
                </a:solidFill>
                <a:latin typeface="Malgun Gothic"/>
              </a:rPr>
              <a:t>•  핵심은 절대수익이 아니라 '신호가 실제로 작동하는가' → 두 시장·10종목에서 일관.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06  WHY /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설계 근거 &amp; 과최적화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Malgun Gothic"/>
              </a:rPr>
              <a:t>"왜 이 지표·이 조건인가"를 실험으로 뒷받침했다 (과거에만 맞춘 신호가 아님).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728" cy="1143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A1A2E"/>
                </a:solidFill>
                <a:latin typeface="Malgun Gothic"/>
              </a:rPr>
              <a:t>왜 부호가 아니라 '각도'로 국면을 나누나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기울기 부호(&gt;0)만 보면 0 근처 횡보에서 휩쏘. 각도 문턱(±0.03%/일)으로 약한 추세를 거르니 거래 83→61회↓, Sharpe 0.56→0.59↑. 횡보는 홀드해 청산 휩쏘도 방지.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9728" cy="1143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A1A2E"/>
                </a:solidFill>
                <a:latin typeface="Malgun Gothic"/>
              </a:rPr>
              <a:t>왜 ROC '가속'인가 (레벨이 아니라)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ROC≥0(양수) 조건을 더하면 Sharpe 0.59→0.53으로 오히려 하락. 음수에서 가속하는 순간이 바닥 반등 = 최적 진입이라, 실험으로 '가속'을 선택.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83480"/>
            <a:ext cx="109728" cy="1143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A1A2E"/>
                </a:solidFill>
                <a:latin typeface="Malgun Gothic"/>
              </a:rPr>
              <a:t>과최적화 아님 — 매직넘버 없고 종목·시장 무관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lgun Gothic"/>
              </a:rPr>
              <a:t>ROC 임계·국면 각도 문턱을 넓게 바꿔도 Sharpe 0.55~0.60로 평평(특정 숫자 비의존). 동일 파라미터로 미국+한국, 대형·소형·성장·방어 10종목 중 9/10 비교군 우위.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534E"/>
                </a:solidFill>
                <a:latin typeface="Malgun Gothic"/>
              </a:rPr>
              <a:t>07 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2E"/>
                </a:solidFill>
                <a:latin typeface="Malgun Gothic"/>
              </a:rPr>
              <a:t>한계 &amp; 개선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88136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4297680"/>
          </a:xfrm>
          <a:prstGeom prst="rect">
            <a:avLst/>
          </a:prstGeom>
          <a:solidFill>
            <a:srgbClr val="F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534E"/>
                </a:solidFill>
                <a:latin typeface="Malgun Gothic"/>
              </a:rPr>
              <a:t>한계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•  횡보장 휩쏘 (각도 국면으로 완화)</a:t>
            </a:r>
          </a:p>
          <a:p>
            <a:pPr algn="l" lvl="1">
              <a:spcAft>
                <a:spcPts val="600"/>
              </a:spcAft>
            </a:pPr>
            <a:r>
              <a:rPr sz="1350" b="0" i="0">
                <a:solidFill>
                  <a:srgbClr val="666666"/>
                </a:solidFill>
                <a:latin typeface="Malgun Gothic"/>
              </a:rPr>
              <a:t>각도 문턱으로 거래·휩쏘 크게 줄였으나 잔존. 추세 없는 KT&amp;G는 여전히 CAGR 0.2%.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•  고변동장 낙폭</a:t>
            </a:r>
          </a:p>
          <a:p>
            <a:pPr algn="l" lvl="1">
              <a:spcAft>
                <a:spcPts val="600"/>
              </a:spcAft>
            </a:pPr>
            <a:r>
              <a:rPr sz="1350" b="0" i="0">
                <a:solidFill>
                  <a:srgbClr val="666666"/>
                </a:solidFill>
                <a:latin typeface="Malgun Gothic"/>
              </a:rPr>
              <a:t>각도 청산도 초고변동엔 느림. 알테오젠 MDD -78%, 삼성전자 -41%.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2E"/>
                </a:solidFill>
                <a:latin typeface="Malgun Gothic"/>
              </a:rPr>
              <a:t>•  후행성</a:t>
            </a:r>
          </a:p>
          <a:p>
            <a:pPr algn="l" lvl="1">
              <a:spcAft>
                <a:spcPts val="600"/>
              </a:spcAft>
            </a:pPr>
            <a:r>
              <a:rPr sz="1350" b="0" i="0">
                <a:solidFill>
                  <a:srgbClr val="666666"/>
                </a:solidFill>
                <a:latin typeface="Malgun Gothic"/>
              </a:rPr>
              <a:t>이동평균 기반이라 급반전엔 한 박자 늦다(추세추종 공통 한계).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49240" cy="4297680"/>
          </a:xfrm>
          <a:prstGeom prst="rect">
            <a:avLst/>
          </a:prstGeom>
          <a:solidFill>
            <a:srgbClr val="EF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8B57"/>
                </a:solidFill>
                <a:latin typeface="Malgun Gothic"/>
              </a:rPr>
              <a:t>개선 방향 (검증 기반)</a:t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E8534E"/>
                </a:solidFill>
                <a:latin typeface="Malgun Gothic"/>
              </a:rPr>
              <a:t>✗ ATR 트레일 손절 — 검증 후 기각</a:t>
            </a:r>
          </a:p>
          <a:p>
            <a:pPr algn="l" lvl="1">
              <a:spcAft>
                <a:spcPts val="600"/>
              </a:spcAft>
            </a:pPr>
            <a:r>
              <a:rPr sz="1250" b="0" i="0">
                <a:solidFill>
                  <a:srgbClr val="666666"/>
                </a:solidFill>
                <a:latin typeface="Malgun Gothic"/>
              </a:rPr>
              <a:t>직접 얹어도 Sharpe 0.59→0.57로 개선 없음(오히려↓), 알테오젠은 악화. 청산(하락국면 전환)이 이미 빨라 ATR은 중복·휩쏘.</a:t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8B57"/>
                </a:solidFill>
                <a:latin typeface="Malgun Gothic"/>
              </a:rPr>
              <a:t>✓ 장기 이평(200일) 국면 필터</a:t>
            </a:r>
          </a:p>
          <a:p>
            <a:pPr algn="l" lvl="1">
              <a:spcAft>
                <a:spcPts val="600"/>
              </a:spcAft>
            </a:pPr>
            <a:r>
              <a:rPr sz="1250" b="0" i="0">
                <a:solidFill>
                  <a:srgbClr val="666666"/>
                </a:solidFill>
                <a:latin typeface="Malgun Gothic"/>
              </a:rPr>
              <a:t>하락장 진입 자체를 차단 — 낙폭의 근본 원인을 제거.</a:t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8B57"/>
                </a:solidFill>
                <a:latin typeface="Malgun Gothic"/>
              </a:rPr>
              <a:t>✓ 추세 없는 종목 배제 (랭킹·로테이션)</a:t>
            </a:r>
          </a:p>
          <a:p>
            <a:pPr algn="l" lvl="1">
              <a:spcAft>
                <a:spcPts val="600"/>
              </a:spcAft>
            </a:pPr>
            <a:r>
              <a:rPr sz="1250" b="0" i="0">
                <a:solidFill>
                  <a:srgbClr val="666666"/>
                </a:solidFill>
                <a:latin typeface="Malgun Gothic"/>
              </a:rPr>
              <a:t>여러 종목 중 추세 강한 것만 선택 → KT&amp;G·KB금융 같은 횡보주 제외.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A1A2E"/>
                </a:solidFill>
                <a:latin typeface="Malgun Gothic"/>
              </a:rPr>
              <a:t>정리 — 2지표만으로 비교군 상회. ATR은 이 전략엔 불필요(청산이 이미 빠름), 낙폭은 국면필터·종목선택이 다음 과제.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